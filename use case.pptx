
<file path=[Content_Types].xml><?xml version="1.0" encoding="utf-8"?>
<Types xmlns="http://schemas.openxmlformats.org/package/2006/content-types">
  <Default Extension="xml" ContentType="application/vnd.openxmlformats-officedocument.extended-properties+xml"/>
  <Default Extension="jpeg" ContentType="image/jpeg"/>
  <Default Extension="png" ContentType="image/png"/>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6.xml" ContentType="application/vnd.openxmlformats-officedocument.presentationml.slide+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s/slide11.xml" ContentType="application/vnd.openxmlformats-officedocument.presentationml.slide+xml"/>
  <Override PartName="/ppt/tableStyles.xml" ContentType="application/vnd.openxmlformats-officedocument.presentationml.tableStyles+xml"/>
  <Override PartName="/ppt/slides/slide1.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viewProps.xml" ContentType="application/vnd.openxmlformats-officedocument.presentationml.viewProps+xml"/>
  <Override PartName="/ppt/slides/slide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slides/slide8.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2.xml" ContentType="application/vnd.openxmlformats-officedocument.presentationml.slide+xml"/>
  <Override PartName="/docProps/core0.xml" ContentType="application/vnd.openxmlformats-package.core-propertie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 Type="http://schemas.openxmlformats.org/officedocument/2006/relationships/metadata/core-properties" Target="/docProps/core0.xml" Id="rId5" /><Relationship Type="http://schemas.openxmlformats.org/officeDocument/2006/relationships/custom-properties" Target="/docProps/custom.xml" Id="rId4"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slide" Target="/ppt/slides/slide6.xml" Id="rId8" /><Relationship Type="http://schemas.openxmlformats.org/officeDocument/2006/relationships/slide" Target="/ppt/slides/slide11.xml" Id="rId13" /><Relationship Type="http://schemas.openxmlformats.org/officeDocument/2006/relationships/tableStyles" Target="/ppt/tableStyles.xml" Id="rId18" /><Relationship Type="http://schemas.openxmlformats.org/officeDocument/2006/relationships/slide" Target="/ppt/slides/slide1.xml" Id="rId3" /><Relationship Type="http://schemas.openxmlformats.org/officeDocument/2006/relationships/slide" Target="/ppt/slides/slide5.xml" Id="rId7" /><Relationship Type="http://schemas.openxmlformats.org/officeDocument/2006/relationships/slide" Target="/ppt/slides/slide10.xml" Id="rId12" /><Relationship Type="http://schemas.openxmlformats.org/officeDocument/2006/relationships/theme" Target="/ppt/theme/theme1.xml" Id="rId17" /><Relationship Type="http://schemas.openxmlformats.org/officeDocument/2006/relationships/viewProps" Target="/ppt/viewProps.xml" Id="rId16" /><Relationship Type="http://schemas.openxmlformats.org/officeDocument/2006/relationships/slideMaster" Target="/ppt/slideMasters/slideMaster1.xml" Id="rId1" /><Relationship Type="http://schemas.openxmlformats.org/officeDocument/2006/relationships/slide" Target="/ppt/slides/slide4.xml" Id="rId6" /><Relationship Type="http://schemas.openxmlformats.org/officeDocument/2006/relationships/slide" Target="/ppt/slides/slide9.xml" Id="rId11" /><Relationship Type="http://schemas.openxmlformats.org/officeDocument/2006/relationships/slide" Target="/ppt/slides/slide3.xml" Id="rId5" /><Relationship Type="http://schemas.openxmlformats.org/officeDocument/2006/relationships/presProps" Target="/ppt/presProps.xml" Id="rId15" /><Relationship Type="http://schemas.openxmlformats.org/officeDocument/2006/relationships/slide" Target="/ppt/slides/slide8.xml" Id="rId10" /><Relationship Type="http://schemas.openxmlformats.org/officeDocument/2006/relationships/slide" Target="/ppt/slides/slide2.xml" Id="rId4" /><Relationship Type="http://schemas.openxmlformats.org/officeDocument/2006/relationships/slide" Target="/ppt/slides/slide7.xml" Id="rId9" /><Relationship Type="http://schemas.openxmlformats.org/officeDocument/2006/relationships/slide" Target="/ppt/slides/slide12.xml" Id="rId14" /></Relationships>
</file>

<file path=ppt/slideLayouts/_rels/slideLayout1.xml.rels><?xml version="1.0" encoding="utf-8" standalone="no" ?><Relationships xmlns="http://schemas.openxmlformats.org/package/2006/relationships"><Relationship Id="rId2" Target="/ppt/media/image1.jpeg" Type="http://schemas.openxmlformats.org/officeDocument/2006/relationships/image"/><Relationship Id="rId1" Target="/ppt/slideMasters/slideMaster1.xml" Type="http://schemas.openxmlformats.org/officeDocument/2006/relationships/slideMaster"/></Relationships>
</file>

<file path=ppt/slideLayouts/_rels/slideLayout5.xml.rels><?xml version="1.0" encoding="utf-8" standalone="no" ?><Relationships xmlns="http://schemas.openxmlformats.org/package/2006/relationships"><Relationship Id="rId2" Target="/ppt/media/image4.jpeg" Type="http://schemas.openxmlformats.org/officeDocument/2006/relationships/image"/><Relationship Id="rId1" Target="/ppt/slideMasters/slideMaster1.xml" Type="http://schemas.openxmlformats.org/officeDocument/2006/relationships/slideMaster"/></Relationships>
</file>

<file path=ppt/slideLayouts/_rels/slideLayout6.xml.rels><?xml version="1.0" encoding="utf-8" standalone="no" ?><Relationships xmlns="http://schemas.openxmlformats.org/package/2006/relationships"><Relationship Id="rId2" Target="/ppt/media/image5.jpeg" Type="http://schemas.openxmlformats.org/officeDocument/2006/relationships/image"/><Relationship Id="rId1" Target="/ppt/slideMasters/slideMaster1.xml" Type="http://schemas.openxmlformats.org/officeDocument/2006/relationships/slideMaster"/></Relationships>
</file>

<file path=ppt/slideLayouts/_rels/slideLayout10.xml.rels><?xml version="1.0" encoding="utf-8" standalone="no" ?><Relationships xmlns="http://schemas.openxmlformats.org/package/2006/relationships"><Relationship Id="rId2" Target="/ppt/media/image8.jpeg" Type="http://schemas.openxmlformats.org/officeDocument/2006/relationships/image"/><Relationship Id="rId1" Target="/ppt/slideMasters/slideMaster1.xml" Type="http://schemas.openxmlformats.org/officeDocument/2006/relationships/slideMaster"/><Relationship Id="rId3" Target="https://bit.ly/3A1uf1Q" TargetMode="External" Type="http://schemas.openxmlformats.org/officeDocument/2006/relationships/hyperlink"/><Relationship Id="rId4" Target="http://bit.ly/2TtBDfr" TargetMode="External" Type="http://schemas.openxmlformats.org/officeDocument/2006/relationships/hyperlink"/></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3" name="Google Shape;9;p2"/>
          <p:cNvPicPr/>
          <p:nvPr/>
        </p:nvPicPr>
        <p:blipFill>
          <a:blip r:embed="rId2"/>
          <a:stretch/>
        </p:blipFill>
        <p:spPr>
          <a:xfrm>
            <a:off x="0" y="0"/>
            <a:ext cx="9143640" cy="5143320"/>
          </a:xfrm>
          <a:prstGeom prst="rect">
            <a:avLst/>
          </a:prstGeom>
          <a:noFill/>
          <a:ln w="0">
            <a:noFill/>
          </a:ln>
        </p:spPr>
      </p:pic>
      <p:sp>
        <p:nvSpPr>
          <p:cNvPr id="4" name="PlaceHolder 1"/>
          <p:cNvSpPr>
            <a:spLocks noGrp="1"/>
          </p:cNvSpPr>
          <p:nvPr>
            <p:ph type="title"/>
          </p:nvPr>
        </p:nvSpPr>
        <p:spPr>
          <a:xfrm>
            <a:off x="228600" y="4146840"/>
            <a:ext cx="8686440" cy="7675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15" name="Google Shape;69;p14"/>
          <p:cNvPicPr/>
          <p:nvPr/>
        </p:nvPicPr>
        <p:blipFill>
          <a:blip r:embed="rId2"/>
          <a:stretch/>
        </p:blipFill>
        <p:spPr>
          <a:xfrm>
            <a:off x="0" y="0"/>
            <a:ext cx="9143640" cy="5142960"/>
          </a:xfrm>
          <a:prstGeom prst="rect">
            <a:avLst/>
          </a:prstGeom>
          <a:noFill/>
          <a:ln w="0">
            <a:noFill/>
          </a:ln>
        </p:spPr>
      </p:pic>
      <p:sp>
        <p:nvSpPr>
          <p:cNvPr id="16" name="PlaceHolder 1"/>
          <p:cNvSpPr>
            <a:spLocks noGrp="1"/>
          </p:cNvSpPr>
          <p:nvPr>
            <p:ph type="title"/>
          </p:nvPr>
        </p:nvSpPr>
        <p:spPr>
          <a:xfrm>
            <a:off x="713160" y="444960"/>
            <a:ext cx="7717320" cy="164556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8" name="Google Shape;73;p15"/>
          <p:cNvPicPr/>
          <p:nvPr/>
        </p:nvPicPr>
        <p:blipFill>
          <a:blip r:embed="rId2"/>
          <a:stretch/>
        </p:blipFill>
        <p:spPr>
          <a:xfrm>
            <a:off x="0" y="0"/>
            <a:ext cx="9143640" cy="5143320"/>
          </a:xfrm>
          <a:prstGeom prst="rect">
            <a:avLst/>
          </a:prstGeom>
          <a:noFill/>
          <a:ln w="0">
            <a:noFill/>
          </a:ln>
        </p:spPr>
      </p:pic>
      <p:sp>
        <p:nvSpPr>
          <p:cNvPr id="19" name="PlaceHolder 1"/>
          <p:cNvSpPr>
            <a:spLocks noGrp="1"/>
          </p:cNvSpPr>
          <p:nvPr>
            <p:ph type="title"/>
          </p:nvPr>
        </p:nvSpPr>
        <p:spPr>
          <a:xfrm>
            <a:off x="234720" y="228600"/>
            <a:ext cx="3735720" cy="18252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0" name="PlaceHolder 2"/>
          <p:cNvSpPr>
            <a:spLocks noGrp="1"/>
          </p:cNvSpPr>
          <p:nvPr>
            <p:ph type="body"/>
          </p:nvPr>
        </p:nvSpPr>
        <p:spPr>
          <a:xfrm>
            <a:off x="4384080" y="228240"/>
            <a:ext cx="4530960" cy="46861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34" name="Google Shape;105;p19"/>
          <p:cNvPicPr/>
          <p:nvPr/>
        </p:nvPicPr>
        <p:blipFill>
          <a:blip r:embed="rId2"/>
          <a:stretch/>
        </p:blipFill>
        <p:spPr>
          <a:xfrm>
            <a:off x="0" y="0"/>
            <a:ext cx="9143640" cy="5143320"/>
          </a:xfrm>
          <a:prstGeom prst="rect">
            <a:avLst/>
          </a:prstGeom>
          <a:noFill/>
          <a:ln w="0">
            <a:noFill/>
          </a:ln>
        </p:spPr>
      </p:pic>
      <p:sp>
        <p:nvSpPr>
          <p:cNvPr id="35" name="PlaceHolder 1"/>
          <p:cNvSpPr>
            <a:spLocks noGrp="1"/>
          </p:cNvSpPr>
          <p:nvPr>
            <p:ph type="title"/>
          </p:nvPr>
        </p:nvSpPr>
        <p:spPr>
          <a:xfrm>
            <a:off x="3162600" y="1759320"/>
            <a:ext cx="5752800" cy="3155760"/>
          </a:xfrm>
          <a:prstGeom prst="rect">
            <a:avLst/>
          </a:prstGeom>
          <a:noFill/>
          <a:ln w="0">
            <a:noFill/>
          </a:ln>
        </p:spPr>
        <p:txBody>
          <a:bodyPr lIns="91440" tIns="91440" rIns="91440" bIns="91440" anchor="b">
            <a:noAutofit/>
          </a:bodyPr>
          <a:lstStyle/>
          <a:p>
            <a:pPr indent="0">
              <a:buNone/>
            </a:pPr>
            <a:r>
              <a:rPr lang="fr-FR" sz="8600" b="0" u="none" strike="noStrike">
                <a:solidFill>
                  <a:schemeClr val="dk1"/>
                </a:solidFill>
                <a:effectLst/>
                <a:uFillTx/>
                <a:latin typeface="Arial"/>
              </a:rPr>
              <a:t>Click to edit the title text format</a:t>
            </a:r>
          </a:p>
        </p:txBody>
      </p:sp>
      <p:sp>
        <p:nvSpPr>
          <p:cNvPr id="36" name="Google Shape;108;p19"/>
          <p:cNvSpPr/>
          <p:nvPr/>
        </p:nvSpPr>
        <p:spPr>
          <a:xfrm>
            <a:off x="838080" y="1565640"/>
            <a:ext cx="2238120" cy="750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Inter"/>
                <a:ea typeface="Inter"/>
              </a:rPr>
              <a:t>CREDITS:</a:t>
            </a:r>
            <a:r>
              <a:rPr lang="en" sz="1000" b="0" u="none" strike="noStrike">
                <a:solidFill>
                  <a:schemeClr val="dk1"/>
                </a:solidFill>
                <a:effectLst/>
                <a:uFillTx/>
                <a:latin typeface="Inter"/>
                <a:ea typeface="Inter"/>
              </a:rPr>
              <a:t> This presentation template was created by </a:t>
            </a:r>
            <a:r>
              <a:rPr lang="en" sz="1000" b="1" u="sng" strike="noStrike">
                <a:solidFill>
                  <a:schemeClr val="dk1"/>
                </a:solidFill>
                <a:effectLst/>
                <a:uFillTx/>
                <a:latin typeface="Inter"/>
                <a:ea typeface="Inter"/>
                <a:hlinkClick r:id="rId3"/>
              </a:rPr>
              <a:t>Slidesgo</a:t>
            </a:r>
            <a:r>
              <a:rPr lang="en" sz="1000" b="0" u="none" strike="noStrike">
                <a:solidFill>
                  <a:schemeClr val="dk1"/>
                </a:solidFill>
                <a:effectLst/>
                <a:uFillTx/>
                <a:latin typeface="Inter"/>
                <a:ea typeface="Inter"/>
              </a:rPr>
              <a:t>, and includes icons, infographics &amp; images by </a:t>
            </a:r>
            <a:r>
              <a:rPr lang="en" sz="1000" b="1" u="sng" strike="noStrike">
                <a:solidFill>
                  <a:schemeClr val="dk1"/>
                </a:solidFill>
                <a:effectLst/>
                <a:uFillTx/>
                <a:latin typeface="Inter"/>
                <a:ea typeface="Inter"/>
                <a:hlinkClick r:id="rId4"/>
              </a:rPr>
              <a:t>Freepik</a:t>
            </a:r>
            <a:r>
              <a:rPr lang="en" sz="1000" b="0" u="none" strike="noStrike">
                <a:solidFill>
                  <a:schemeClr val="dk1"/>
                </a:solidFill>
                <a:effectLst/>
                <a:uFillTx/>
                <a:latin typeface="Inter"/>
                <a:ea typeface="Inter"/>
              </a:rPr>
              <a:t> </a:t>
            </a:r>
            <a:endParaRPr lang="en-US" sz="1000" b="0" u="none" strike="noStrike">
              <a:solidFill>
                <a:srgbClr val="FFFFFF"/>
              </a:solidFill>
              <a:effectLst/>
              <a:uFillTx/>
              <a:latin typeface="OpenSymbol"/>
            </a:endParaRPr>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theme/theme1.xml" Id="rId21" /><Relationship Type="http://schemas.openxmlformats.org/officeDocument/2006/relationships/slideLayout" Target="/ppt/slideLayouts/slideLayout1.xml" Id="rId1" /><Relationship Type="http://schemas.openxmlformats.org/officeDocument/2006/relationships/slideLayout" Target="/ppt/slideLayouts/slideLayout6.xml" Id="rId6" /><Relationship Type="http://schemas.openxmlformats.org/officeDocument/2006/relationships/slideLayout" Target="/ppt/slideLayouts/slideLayout5.xml" Id="rId5" /><Relationship Type="http://schemas.openxmlformats.org/officeDocument/2006/relationships/slideLayout" Target="/ppt/slideLayouts/slideLayout10.xml" Id="rId10"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3" r:id="rId5"/>
    <p:sldLayoutId id="2147483654" r:id="rId6"/>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12.jpeg" Id="rId2" /><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image" Target="/ppt/media/image13.jpeg" Id="rId2" /><Relationship Type="http://schemas.openxmlformats.org/officeDocument/2006/relationships/slideLayout" Target="/ppt/slideLayouts/slideLayout5.xml" Id="rId1" /></Relationships>
</file>

<file path=ppt/slides/_rels/slide3.xml.rels>&#65279;<?xml version="1.0" encoding="utf-8"?><Relationships xmlns="http://schemas.openxmlformats.org/package/2006/relationships"><Relationship Type="http://schemas.openxmlformats.org/officeDocument/2006/relationships/image" Target="/ppt/media/image14.jpeg" Id="rId2" /><Relationship Type="http://schemas.openxmlformats.org/officeDocument/2006/relationships/slideLayout" Target="/ppt/slideLayouts/slideLayout5.xml" Id="rId1" /></Relationships>
</file>

<file path=ppt/slides/_rels/slide4.xml.rels><?xml version="1.0" encoding="utf-8" standalone="no" ?><Relationships xmlns="http://schemas.openxmlformats.org/package/2006/relationships"><Relationship Id="rId2" Target="/ppt/media/image15.jpeg" Type="http://schemas.openxmlformats.org/officeDocument/2006/relationships/image"/><Relationship Id="rId1" Target="/ppt/slideLayouts/slideLayout6.xml" Type="http://schemas.openxmlformats.org/officeDocument/2006/relationships/slideLayout"/></Relationships>
</file>

<file path=ppt/slides/_rels/slide5.xml.rels>&#65279;<?xml version="1.0" encoding="utf-8"?><Relationships xmlns="http://schemas.openxmlformats.org/package/2006/relationships"><Relationship Type="http://schemas.openxmlformats.org/officeDocument/2006/relationships/image" Target="/ppt/media/image16.jpeg" Id="rId2" /><Relationship Type="http://schemas.openxmlformats.org/officeDocument/2006/relationships/slideLayout" Target="/ppt/slideLayouts/slideLayout5.xml" Id="rId1" /></Relationships>
</file>

<file path=ppt/slides/_rels/slide6.xml.rels>&#65279;<?xml version="1.0" encoding="utf-8"?><Relationships xmlns="http://schemas.openxmlformats.org/package/2006/relationships"><Relationship Type="http://schemas.openxmlformats.org/officeDocument/2006/relationships/image" Target="/ppt/media/image17.jpeg" Id="rId2" /><Relationship Type="http://schemas.openxmlformats.org/officeDocument/2006/relationships/slideLayout" Target="/ppt/slideLayouts/slideLayout5.xml" Id="rId1" /></Relationships>
</file>

<file path=ppt/slides/_rels/slide7.xml.rels>&#65279;<?xml version="1.0" encoding="utf-8"?><Relationships xmlns="http://schemas.openxmlformats.org/package/2006/relationships"><Relationship Type="http://schemas.openxmlformats.org/officeDocument/2006/relationships/image" Target="/ppt/media/image19.jpeg" Id="rId3" /><Relationship Type="http://schemas.openxmlformats.org/officeDocument/2006/relationships/image" Target="/ppt/media/image18.jpeg" Id="rId2" /><Relationship Type="http://schemas.openxmlformats.org/officeDocument/2006/relationships/slideLayout" Target="/ppt/slideLayouts/slideLayout5.xml" Id="rId1" /></Relationships>
</file>

<file path=ppt/slides/_rels/slide8.xml.rels><?xml version="1.0" encoding="utf-8" standalone="no" ?><Relationships xmlns="http://schemas.openxmlformats.org/package/2006/relationships"><Relationship Id="rId2" Target="/ppt/media/image20.jpeg" Type="http://schemas.openxmlformats.org/officeDocument/2006/relationships/image"/><Relationship Id="rId1" Target="/ppt/slideLayouts/slideLayout6.xml" Type="http://schemas.openxmlformats.org/officeDocument/2006/relationships/slideLayout"/></Relationships>
</file>

<file path=ppt/slides/_rels/slide9.xml.rels>&#65279;<?xml version="1.0" encoding="utf-8"?><Relationships xmlns="http://schemas.openxmlformats.org/package/2006/relationships"><Relationship Type="http://schemas.openxmlformats.org/officeDocument/2006/relationships/image" Target="/ppt/media/image21.jpeg" Id="rId2" /><Relationship Type="http://schemas.openxmlformats.org/officeDocument/2006/relationships/slideLayout" Target="/ppt/slideLayouts/slideLayout5.xml" Id="rId1" /></Relationships>
</file>

<file path=ppt/slides/_rels/slide10.xml.rels>&#65279;<?xml version="1.0" encoding="utf-8"?><Relationships xmlns="http://schemas.openxmlformats.org/package/2006/relationships"><Relationship Type="http://schemas.openxmlformats.org/officeDocument/2006/relationships/image" Target="/ppt/media/image22.jpeg" Id="rId2" /><Relationship Type="http://schemas.openxmlformats.org/officeDocument/2006/relationships/slideLayout" Target="/ppt/slideLayouts/slideLayout5.xml" Id="rId1" /></Relationships>
</file>

<file path=ppt/slides/_rels/slide11.xml.rels><?xml version="1.0" encoding="utf-8" standalone="no" ?><Relationships xmlns="http://schemas.openxmlformats.org/package/2006/relationships"><Relationship Id="rId2" Target="/ppt/media/image23.jpeg" Type="http://schemas.openxmlformats.org/officeDocument/2006/relationships/image"/><Relationship Id="rId1" Target="/ppt/slideLayouts/slideLayout6.xml" Type="http://schemas.openxmlformats.org/officeDocument/2006/relationships/slideLayout"/></Relationships>
</file>

<file path=ppt/slides/_rels/slide12.xml.rels>&#65279;<?xml version="1.0" encoding="utf-8"?><Relationships xmlns="http://schemas.openxmlformats.org/package/2006/relationships"><Relationship Type="http://schemas.openxmlformats.org/officeDocument/2006/relationships/image" Target="/ppt/media/image24.jpeg" Id="rId2" /><Relationship Type="http://schemas.openxmlformats.org/officeDocument/2006/relationships/slideLayout" Target="/ppt/slideLayouts/slideLayout10.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228600" y="4143240"/>
            <a:ext cx="8686440" cy="771120"/>
          </a:xfrm>
          <a:prstGeom prst="rect">
            <a:avLst/>
          </a:prstGeom>
          <a:noFill/>
          <a:ln w="0">
            <a:noFill/>
          </a:ln>
        </p:spPr>
        <p:txBody>
          <a:bodyPr lIns="91440" tIns="91440" rIns="91440" bIns="91440" anchor="b">
            <a:normAutofit lnSpcReduction="9999"/>
          </a:bodyPr>
          <a:lstStyle/>
          <a:p>
            <a:pPr indent="0">
              <a:lnSpc>
                <a:spcPct val="100000"/>
              </a:lnSpc>
              <a:buNone/>
              <a:tabLst>
                <a:tab pos="0" algn="l"/>
              </a:tabLst>
            </a:pPr>
            <a:r>
              <a:rPr lang="en-US" sz="4000" b="1" u="none" strike="noStrike">
                <a:solidFill>
                  <a:schemeClr val="dk1"/>
                </a:solidFill>
                <a:effectLst/>
                <a:uFillTx/>
                <a:latin typeface="Syne"/>
                <a:ea typeface="Syne"/>
              </a:rPr>
              <a:t>IoT Indexing</a:t>
            </a:r>
            <a:endParaRPr lang="fr-FR" sz="4000" b="0" u="none" strike="noStrike">
              <a:solidFill>
                <a:schemeClr val="dk1"/>
              </a:solidFill>
              <a:effectLst/>
              <a:uFillTx/>
              <a:latin typeface="Arial"/>
            </a:endParaRPr>
          </a:p>
        </p:txBody>
      </p:sp>
      <p:pic>
        <p:nvPicPr>
          <p:cNvPr id="2" name="Picture 1">
            <a:extLst>
              <a:ext uri="{FF2B5EF4-FFF2-40B4-BE49-F238E27FC236}">
                <a16:creationId xmlns:a16="http://schemas.microsoft.com/office/drawing/2014/main" id="{C1A53965-46CD-A87C-1CF4-43E489E94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071715" cy="5143500"/>
          </a:xfrm>
          <a:prstGeom prst="rect">
            <a:avLst/>
          </a:prstGeom>
        </p:spPr>
      </p:pic>
      <p:sp>
        <p:nvSpPr>
          <p:cNvPr id="4" name="Title 3">
            <a:extLst>
              <a:ext uri="{FF2B5EF4-FFF2-40B4-BE49-F238E27FC236}">
                <a16:creationId xmlns:a16="http://schemas.microsoft.com/office/drawing/2014/main" id="{70539355-2EE3-4AB3-B07F-862897054945}"/>
              </a:ext>
            </a:extLst>
          </p:cNvPr>
          <p:cNvSpPr>
            <a:spLocks noGrp="1"/>
          </p:cNvSpPr>
          <p:nvPr>
            <p:ph type="title"/>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0" y="95453"/>
            <a:ext cx="7714800" cy="1647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Introduction</a:t>
            </a:r>
            <a:endParaRPr lang="fr-FR" sz="2600" b="0" u="none" strike="noStrike">
              <a:solidFill>
                <a:schemeClr val="dk1"/>
              </a:solidFill>
              <a:effectLst/>
              <a:uFillTx/>
              <a:latin typeface="Arial"/>
            </a:endParaRPr>
          </a:p>
        </p:txBody>
      </p:sp>
      <p:sp>
        <p:nvSpPr>
          <p:cNvPr id="65" name="PlaceHolder 2"/>
          <p:cNvSpPr>
            <a:spLocks noGrp="1"/>
          </p:cNvSpPr>
          <p:nvPr>
            <p:ph type="subTitle"/>
          </p:nvPr>
        </p:nvSpPr>
        <p:spPr>
          <a:xfrm>
            <a:off x="90356" y="518491"/>
            <a:ext cx="6333937" cy="338834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200" b="0" u="none" strike="noStrike">
                <a:solidFill>
                  <a:schemeClr val="dk1"/>
                </a:solidFill>
                <a:effectLst/>
                <a:uFillTx/>
                <a:latin typeface="Inter Light"/>
                <a:ea typeface="Inter Light"/>
              </a:rPr>
              <a:t>A generic IoT platform must handle data from various device types and scenarios that may evolve over time. Efficient data retrieval requires a robust indexing mechanism to quickly access records by device or location. This presentation explores how indexing supports this need and why a JSON-based document database like MongoDB is well suited for flexible IoT data storage.</a:t>
            </a:r>
            <a:endParaRPr lang="en-US" sz="1200" b="0" u="none" strike="noStrike">
              <a:solidFill>
                <a:srgbClr val="FFFFFF"/>
              </a:solidFill>
              <a:effectLst/>
              <a:uFillTx/>
              <a:latin typeface="OpenSymbol"/>
            </a:endParaRPr>
          </a:p>
        </p:txBody>
      </p:sp>
      <p:pic>
        <p:nvPicPr>
          <p:cNvPr id="2" name="Picture 1">
            <a:extLst>
              <a:ext uri="{FF2B5EF4-FFF2-40B4-BE49-F238E27FC236}">
                <a16:creationId xmlns:a16="http://schemas.microsoft.com/office/drawing/2014/main" id="{2B890ACC-FEAB-F077-4E08-A56C1DCD98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34222"/>
            <a:ext cx="9053644" cy="33092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2362" y="0"/>
            <a:ext cx="7714800" cy="1647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IoT Device Data Management</a:t>
            </a:r>
            <a:endParaRPr lang="fr-FR" sz="2600" b="0" u="none" strike="noStrike">
              <a:solidFill>
                <a:schemeClr val="dk1"/>
              </a:solidFill>
              <a:effectLst/>
              <a:uFillTx/>
              <a:latin typeface="Arial"/>
            </a:endParaRPr>
          </a:p>
        </p:txBody>
      </p:sp>
      <p:sp>
        <p:nvSpPr>
          <p:cNvPr id="67" name="PlaceHolder 2"/>
          <p:cNvSpPr>
            <a:spLocks noGrp="1"/>
          </p:cNvSpPr>
          <p:nvPr>
            <p:ph type="subTitle"/>
          </p:nvPr>
        </p:nvSpPr>
        <p:spPr>
          <a:xfrm>
            <a:off x="3638520" y="2610000"/>
            <a:ext cx="5276520" cy="1810080"/>
          </a:xfrm>
          <a:prstGeom prst="rect">
            <a:avLst/>
          </a:prstGeom>
          <a:noFill/>
          <a:ln w="0">
            <a:noFill/>
          </a:ln>
        </p:spPr>
        <p:txBody>
          <a:bodyPr lIns="91440" tIns="91440" rIns="91440" bIns="91440" anchor="t">
            <a:spAutoFit/>
          </a:bodyPr>
          <a:lstStyle/>
          <a:p>
            <a:pPr indent="0" algn="ctr">
              <a:buNone/>
            </a:pPr>
            <a:endParaRPr lang="en-US" sz="1200" b="0" u="none" strike="noStrike">
              <a:solidFill>
                <a:schemeClr val="dk1"/>
              </a:solidFill>
              <a:effectLst/>
              <a:uFillTx/>
              <a:latin typeface="Inter Light"/>
              <a:ea typeface="Inter Light"/>
            </a:endParaRPr>
          </a:p>
        </p:txBody>
      </p:sp>
      <p:pic>
        <p:nvPicPr>
          <p:cNvPr id="2" name="Picture 1">
            <a:extLst>
              <a:ext uri="{FF2B5EF4-FFF2-40B4-BE49-F238E27FC236}">
                <a16:creationId xmlns:a16="http://schemas.microsoft.com/office/drawing/2014/main" id="{A7BBB93E-C57E-C2E2-E095-63B31ADC3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9" y="823680"/>
            <a:ext cx="9144000" cy="431982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237960" y="228600"/>
            <a:ext cx="3733560" cy="1828440"/>
          </a:xfrm>
          <a:prstGeom prst="rect">
            <a:avLst/>
          </a:prstGeom>
          <a:noFill/>
          <a:ln w="0">
            <a:noFill/>
          </a:ln>
        </p:spPr>
        <p:txBody>
          <a:bodyPr anchor="t" bIns="91440" lIns="91440" rIns="91440" tIns="91440">
            <a:normAutofit/>
          </a:bodyPr>
          <a:lstStyle/>
          <a:p>
            <a:pPr indent="0">
              <a:lnSpc>
                <a:spcPct val="100000"/>
              </a:lnSpc>
              <a:buNone/>
              <a:tabLst>
                <a:tab algn="l" pos="0"/>
              </a:tabLst>
            </a:pPr>
            <a:r>
              <a:rPr b="1" lang="en-US" strike="noStrike" sz="2600" u="none">
                <a:solidFill>
                  <a:schemeClr val="dk1"/>
                </a:solidFill>
                <a:effectLst/>
                <a:uFillTx/>
                <a:latin typeface="Syne"/>
                <a:ea typeface="Syne"/>
              </a:rPr>
              <a:t>Challenges in supporting diverse devices</a:t>
            </a:r>
            <a:endParaRPr b="0" lang="fr-FR" strike="noStrike" sz="2600" u="none">
              <a:solidFill>
                <a:schemeClr val="dk1"/>
              </a:solidFill>
              <a:effectLst/>
              <a:uFillTx/>
              <a:latin typeface="Arial"/>
            </a:endParaRPr>
          </a:p>
        </p:txBody>
      </p:sp>
      <p:sp>
        <p:nvSpPr>
          <p:cNvPr id="69" name="PlaceHolder 2"/>
          <p:cNvSpPr>
            <a:spLocks noGrp="1"/>
          </p:cNvSpPr>
          <p:nvPr>
            <p:ph type="subTitle"/>
          </p:nvPr>
        </p:nvSpPr>
        <p:spPr>
          <a:xfrm>
            <a:off x="228600" y="2371680"/>
            <a:ext cx="3733560" cy="2542680"/>
          </a:xfrm>
          <a:prstGeom prst="rect">
            <a:avLst/>
          </a:prstGeom>
          <a:noFill/>
          <a:ln w="0">
            <a:noFill/>
          </a:ln>
        </p:spPr>
        <p:txBody>
          <a:bodyPr anchor="b" bIns="91440" lIns="91440" rIns="91440" tIns="91440">
            <a:normAutofit/>
          </a:bodyPr>
          <a:lstStyle/>
          <a:p>
            <a:pPr indent="0">
              <a:lnSpc>
                <a:spcPct val="120000"/>
              </a:lnSpc>
              <a:buNone/>
              <a:tabLst>
                <a:tab algn="l" pos="0"/>
              </a:tabLst>
            </a:pPr>
            <a:r>
              <a:rPr b="0" lang="en-US" strike="noStrike" sz="1200" u="none">
                <a:solidFill>
                  <a:schemeClr val="dk1"/>
                </a:solidFill>
                <a:effectLst/>
                <a:uFillTx/>
                <a:latin typeface="Inter Light"/>
                <a:ea typeface="Inter Light"/>
              </a:rPr>
              <a:t>IoT platforms face complexity from many device types generating heterogeneous data. Designs must anticipate unknown future devices and support their data formats without complete redesign. This requires adaptable structures to capture varied device and sensor data reliably across multiple contexts.</a:t>
            </a:r>
            <a:endParaRPr b="0" lang="en-US" strike="noStrike" sz="1200" u="none">
              <a:solidFill>
                <a:srgbClr val="FFFFFF"/>
              </a:solidFill>
              <a:effectLst/>
              <a:uFillTx/>
              <a:latin typeface="OpenSymbol"/>
            </a:endParaRPr>
          </a:p>
        </p:txBody>
      </p:sp>
      <p:pic>
        <p:nvPicPr>
          <p:cNvPr id="70" name="Google Shape;213;p31"/>
          <p:cNvPicPr/>
          <p:nvPr/>
        </p:nvPicPr>
        <p:blipFill>
          <a:blip r:embed="rId2"/>
          <a:srcRect l="25" r="34" t="93"/>
          <a:stretch/>
        </p:blipFill>
        <p:spPr>
          <a:xfrm>
            <a:off x="4384079" y="0"/>
            <a:ext cx="4994845" cy="514350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72714" y="0"/>
            <a:ext cx="4318574" cy="19194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Importance of flexible data storage</a:t>
            </a:r>
            <a:endParaRPr lang="fr-FR" sz="2600" b="0" u="none" strike="noStrike">
              <a:solidFill>
                <a:schemeClr val="dk1"/>
              </a:solidFill>
              <a:effectLst/>
              <a:uFillTx/>
              <a:latin typeface="Arial"/>
            </a:endParaRPr>
          </a:p>
        </p:txBody>
      </p:sp>
      <p:sp>
        <p:nvSpPr>
          <p:cNvPr id="72" name="PlaceHolder 2"/>
          <p:cNvSpPr>
            <a:spLocks noGrp="1"/>
          </p:cNvSpPr>
          <p:nvPr>
            <p:ph type="subTitle"/>
          </p:nvPr>
        </p:nvSpPr>
        <p:spPr>
          <a:xfrm>
            <a:off x="72714" y="1128164"/>
            <a:ext cx="4120221" cy="2711953"/>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200" b="0" u="none" strike="noStrike">
                <a:solidFill>
                  <a:schemeClr val="dk1"/>
                </a:solidFill>
                <a:effectLst/>
                <a:uFillTx/>
                <a:latin typeface="Inter Light"/>
                <a:ea typeface="Inter Light"/>
              </a:rPr>
              <a:t>A rigid schema limits scalability and responsiveness in evolving IoT environments. Flexible, schema-less storage enables seamless integration of new device data types. It supports heterogeneous record structures, allowing for dynamic indexing and efficient querying of common parameters like temperature across device categories.</a:t>
            </a:r>
            <a:endParaRPr lang="en-US" sz="1200" b="0" u="none" strike="noStrike">
              <a:solidFill>
                <a:srgbClr val="FFFFFF"/>
              </a:solidFill>
              <a:effectLst/>
              <a:uFillTx/>
              <a:latin typeface="OpenSymbol"/>
            </a:endParaRPr>
          </a:p>
        </p:txBody>
      </p:sp>
      <p:pic>
        <p:nvPicPr>
          <p:cNvPr id="2" name="Picture 1">
            <a:extLst>
              <a:ext uri="{FF2B5EF4-FFF2-40B4-BE49-F238E27FC236}">
                <a16:creationId xmlns:a16="http://schemas.microsoft.com/office/drawing/2014/main" id="{BB53A5F9-34F8-4AC5-8CB1-584E23AA2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1065" y="0"/>
            <a:ext cx="4120221" cy="51434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72286" y="68345"/>
            <a:ext cx="5420554" cy="2018871"/>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Role of indexing in efficient data retrieval</a:t>
            </a:r>
            <a:endParaRPr lang="fr-FR" sz="2600" b="0" u="none" strike="noStrike">
              <a:solidFill>
                <a:schemeClr val="dk1"/>
              </a:solidFill>
              <a:effectLst/>
              <a:uFillTx/>
              <a:latin typeface="Arial"/>
            </a:endParaRPr>
          </a:p>
        </p:txBody>
      </p:sp>
      <p:sp>
        <p:nvSpPr>
          <p:cNvPr id="74" name="PlaceHolder 2"/>
          <p:cNvSpPr>
            <a:spLocks noGrp="1"/>
          </p:cNvSpPr>
          <p:nvPr>
            <p:ph type="subTitle"/>
          </p:nvPr>
        </p:nvSpPr>
        <p:spPr>
          <a:xfrm>
            <a:off x="433709" y="995038"/>
            <a:ext cx="3867224" cy="2184356"/>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200" b="0" u="none" strike="noStrike">
                <a:solidFill>
                  <a:schemeClr val="dk1"/>
                </a:solidFill>
                <a:effectLst/>
                <a:uFillTx/>
                <a:latin typeface="Inter Light"/>
                <a:ea typeface="Inter Light"/>
              </a:rPr>
              <a:t>Indexing is essential for rapidly accessing IoT data, enabling queries by multiple attributes such as device ID and location ID. It supports efficient retrieval of records for specific devices, even across different locations. This flexible indexing ensures quick access to common parameters like temperature, improving overall system responsiveness and data usability.</a:t>
            </a:r>
            <a:endParaRPr lang="en-US" sz="1200" b="0" u="none" strike="noStrike">
              <a:solidFill>
                <a:srgbClr val="FFFFFF"/>
              </a:solidFill>
              <a:effectLst/>
              <a:uFillTx/>
              <a:latin typeface="OpenSymbol"/>
            </a:endParaRPr>
          </a:p>
        </p:txBody>
      </p:sp>
      <p:pic>
        <p:nvPicPr>
          <p:cNvPr id="2" name="Picture 1">
            <a:extLst>
              <a:ext uri="{FF2B5EF4-FFF2-40B4-BE49-F238E27FC236}">
                <a16:creationId xmlns:a16="http://schemas.microsoft.com/office/drawing/2014/main" id="{3CCD1384-8717-D013-DEAB-005B51ABBB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1241" y="0"/>
            <a:ext cx="3930473"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135963" y="113524"/>
            <a:ext cx="7714800" cy="1647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JSON-Based Document Databases in IoT</a:t>
            </a:r>
            <a:endParaRPr lang="fr-FR" sz="2600" b="0" u="none" strike="noStrike">
              <a:solidFill>
                <a:schemeClr val="dk1"/>
              </a:solidFill>
              <a:effectLst/>
              <a:uFillTx/>
              <a:latin typeface="Arial"/>
            </a:endParaRPr>
          </a:p>
        </p:txBody>
      </p:sp>
      <p:sp>
        <p:nvSpPr>
          <p:cNvPr id="76" name="PlaceHolder 2"/>
          <p:cNvSpPr>
            <a:spLocks noGrp="1"/>
          </p:cNvSpPr>
          <p:nvPr>
            <p:ph type="subTitle"/>
          </p:nvPr>
        </p:nvSpPr>
        <p:spPr>
          <a:xfrm>
            <a:off x="63680" y="1150654"/>
            <a:ext cx="5276520" cy="1015663"/>
          </a:xfrm>
          <a:prstGeom prst="rect">
            <a:avLst/>
          </a:prstGeom>
          <a:noFill/>
          <a:ln w="0">
            <a:noFill/>
          </a:ln>
        </p:spPr>
        <p:txBody>
          <a:bodyPr lIns="91440" tIns="91440" rIns="91440" bIns="91440" anchor="t">
            <a:spAutoFit/>
          </a:bodyPr>
          <a:lstStyle/>
          <a:p>
            <a:pPr indent="0" algn="ctr">
              <a:buNone/>
            </a:pPr>
            <a:r>
              <a:rPr lang="en-US" sz="1200" b="0" u="none" strike="noStrike" dirty="0">
                <a:solidFill>
                  <a:schemeClr val="dk1"/>
                </a:solidFill>
                <a:effectLst/>
                <a:uFillTx/>
                <a:latin typeface="Inter Light"/>
                <a:ea typeface="Inter Light"/>
              </a:rPr>
              <a:t>A JSON-based document database is a type of NoSQL database management system (DBMS) that stores and retrieves data in the form of JSON (JavaScript Object Notation) documents. Unlike traditional relational databases that use a rigid, tabular structure with predefined schemas, document databases offer a more flexible, schema-less approach.</a:t>
            </a:r>
          </a:p>
        </p:txBody>
      </p:sp>
      <p:pic>
        <p:nvPicPr>
          <p:cNvPr id="2" name="Picture 1">
            <a:extLst>
              <a:ext uri="{FF2B5EF4-FFF2-40B4-BE49-F238E27FC236}">
                <a16:creationId xmlns:a16="http://schemas.microsoft.com/office/drawing/2014/main" id="{15227D06-6EA5-0C4C-2161-8E25F61A0A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71750"/>
            <a:ext cx="9144000" cy="2571750"/>
          </a:xfrm>
          <a:prstGeom prst="rect">
            <a:avLst/>
          </a:prstGeom>
        </p:spPr>
      </p:pic>
      <p:pic>
        <p:nvPicPr>
          <p:cNvPr id="3" name="Picture 2">
            <a:extLst>
              <a:ext uri="{FF2B5EF4-FFF2-40B4-BE49-F238E27FC236}">
                <a16:creationId xmlns:a16="http://schemas.microsoft.com/office/drawing/2014/main" id="{403692CF-46C6-C67F-9E0C-FB1185C193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8517" y="39279"/>
            <a:ext cx="2745483" cy="1760884"/>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237960" y="228600"/>
            <a:ext cx="3733560" cy="1828440"/>
          </a:xfrm>
          <a:prstGeom prst="rect">
            <a:avLst/>
          </a:prstGeom>
          <a:noFill/>
          <a:ln w="0">
            <a:noFill/>
          </a:ln>
        </p:spPr>
        <p:txBody>
          <a:bodyPr anchor="t" bIns="91440" lIns="91440" rIns="91440" tIns="91440">
            <a:normAutofit/>
          </a:bodyPr>
          <a:lstStyle/>
          <a:p>
            <a:pPr indent="0">
              <a:lnSpc>
                <a:spcPct val="100000"/>
              </a:lnSpc>
              <a:buNone/>
              <a:tabLst>
                <a:tab algn="l" pos="0"/>
              </a:tabLst>
            </a:pPr>
            <a:r>
              <a:rPr b="1" lang="en-US" strike="noStrike" sz="2600" u="none">
                <a:solidFill>
                  <a:schemeClr val="dk1"/>
                </a:solidFill>
                <a:effectLst/>
                <a:uFillTx/>
                <a:latin typeface="Syne"/>
                <a:ea typeface="Syne"/>
              </a:rPr>
              <a:t>Advantages of MongoDB for IoT platforms</a:t>
            </a:r>
            <a:endParaRPr b="0" lang="fr-FR" strike="noStrike" sz="2600" u="none">
              <a:solidFill>
                <a:schemeClr val="dk1"/>
              </a:solidFill>
              <a:effectLst/>
              <a:uFillTx/>
              <a:latin typeface="Arial"/>
            </a:endParaRPr>
          </a:p>
        </p:txBody>
      </p:sp>
      <p:sp>
        <p:nvSpPr>
          <p:cNvPr id="78" name="PlaceHolder 2"/>
          <p:cNvSpPr>
            <a:spLocks noGrp="1"/>
          </p:cNvSpPr>
          <p:nvPr>
            <p:ph type="subTitle"/>
          </p:nvPr>
        </p:nvSpPr>
        <p:spPr>
          <a:xfrm>
            <a:off x="228600" y="2371680"/>
            <a:ext cx="3733560" cy="2542680"/>
          </a:xfrm>
          <a:prstGeom prst="rect">
            <a:avLst/>
          </a:prstGeom>
          <a:noFill/>
          <a:ln w="0">
            <a:noFill/>
          </a:ln>
        </p:spPr>
        <p:txBody>
          <a:bodyPr anchor="b" bIns="91440" lIns="91440" rIns="91440" tIns="91440">
            <a:normAutofit/>
          </a:bodyPr>
          <a:lstStyle/>
          <a:p>
            <a:pPr indent="0">
              <a:lnSpc>
                <a:spcPct val="120000"/>
              </a:lnSpc>
              <a:buNone/>
              <a:tabLst>
                <a:tab algn="l" pos="0"/>
              </a:tabLst>
            </a:pPr>
            <a:r>
              <a:rPr b="0" lang="en-US" strike="noStrike" sz="1200" u="none">
                <a:solidFill>
                  <a:schemeClr val="dk1"/>
                </a:solidFill>
                <a:effectLst/>
                <a:uFillTx/>
                <a:latin typeface="Inter Light"/>
                <a:ea typeface="Inter Light"/>
              </a:rPr>
              <a:t>MongoDB offers a flexible, schema-less data model that accommodates diverse IoT device data types. Its document-oriented structure supports nested and varied data, enabling easy adaptation to unknown or evolving devices. Additionally, MongoDB provides powerful indexing capabilities and scalability, making it ideal for complex IoT data management.</a:t>
            </a:r>
            <a:endParaRPr b="0" lang="en-US" strike="noStrike" sz="1200" u="none">
              <a:solidFill>
                <a:srgbClr val="FFFFFF"/>
              </a:solidFill>
              <a:effectLst/>
              <a:uFillTx/>
              <a:latin typeface="OpenSymbol"/>
            </a:endParaRPr>
          </a:p>
        </p:txBody>
      </p:sp>
      <p:pic>
        <p:nvPicPr>
          <p:cNvPr id="79" name="Google Shape;213;p31"/>
          <p:cNvPicPr/>
          <p:nvPr/>
        </p:nvPicPr>
        <p:blipFill>
          <a:blip r:embed="rId2"/>
          <a:srcRect l="25" r="34" t="93"/>
          <a:stretch/>
        </p:blipFill>
        <p:spPr>
          <a:xfrm>
            <a:off x="4384080" y="0"/>
            <a:ext cx="4759920" cy="514350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1" y="74543"/>
            <a:ext cx="5114135" cy="2310848"/>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Indexing strategies in MongoDB for devices and locations</a:t>
            </a:r>
            <a:endParaRPr lang="fr-FR" sz="2600" b="0" u="none" strike="noStrike">
              <a:solidFill>
                <a:schemeClr val="dk1"/>
              </a:solidFill>
              <a:effectLst/>
              <a:uFillTx/>
              <a:latin typeface="Arial"/>
            </a:endParaRPr>
          </a:p>
        </p:txBody>
      </p:sp>
      <p:sp>
        <p:nvSpPr>
          <p:cNvPr id="81" name="PlaceHolder 2"/>
          <p:cNvSpPr>
            <a:spLocks noGrp="1"/>
          </p:cNvSpPr>
          <p:nvPr>
            <p:ph type="subTitle"/>
          </p:nvPr>
        </p:nvSpPr>
        <p:spPr>
          <a:xfrm>
            <a:off x="0" y="973595"/>
            <a:ext cx="5713299" cy="1475045"/>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200" b="0" u="none" strike="noStrike">
                <a:solidFill>
                  <a:schemeClr val="dk1"/>
                </a:solidFill>
                <a:effectLst/>
                <a:uFillTx/>
                <a:latin typeface="Inter Light"/>
                <a:ea typeface="Inter Light"/>
              </a:rPr>
              <a:t>MongoDB supports compound indexes combining device ID and location ID, facilitating precise queries for device data across different locations. Indexes on common parameters enable fast aggregation and retrieval. These strategies enhance query performance by reducing search scope and enabling multi-dimensional access to IoT datasets efficiently.</a:t>
            </a:r>
            <a:endParaRPr lang="en-US" sz="1200" b="0" u="none" strike="noStrike">
              <a:solidFill>
                <a:srgbClr val="FFFFFF"/>
              </a:solidFill>
              <a:effectLst/>
              <a:uFillTx/>
              <a:latin typeface="OpenSymbol"/>
            </a:endParaRPr>
          </a:p>
        </p:txBody>
      </p:sp>
      <p:pic>
        <p:nvPicPr>
          <p:cNvPr id="2" name="Picture 1">
            <a:extLst>
              <a:ext uri="{FF2B5EF4-FFF2-40B4-BE49-F238E27FC236}">
                <a16:creationId xmlns:a16="http://schemas.microsoft.com/office/drawing/2014/main" id="{9F203AD7-3746-356C-C9A5-790E17B26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385391"/>
            <a:ext cx="9080751" cy="26835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2110" y="188301"/>
            <a:ext cx="4634459" cy="2278409"/>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Sample JSON schema for multi-device data storage</a:t>
            </a:r>
            <a:endParaRPr lang="fr-FR" sz="2600" b="0" u="none" strike="noStrike">
              <a:solidFill>
                <a:schemeClr val="dk1"/>
              </a:solidFill>
              <a:effectLst/>
              <a:uFillTx/>
              <a:latin typeface="Arial"/>
            </a:endParaRPr>
          </a:p>
        </p:txBody>
      </p:sp>
      <p:sp>
        <p:nvSpPr>
          <p:cNvPr id="83" name="PlaceHolder 2"/>
          <p:cNvSpPr>
            <a:spLocks noGrp="1"/>
          </p:cNvSpPr>
          <p:nvPr>
            <p:ph type="subTitle"/>
          </p:nvPr>
        </p:nvSpPr>
        <p:spPr>
          <a:xfrm>
            <a:off x="82110" y="1562030"/>
            <a:ext cx="5276520" cy="180936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200" b="0" u="none" strike="noStrike">
                <a:solidFill>
                  <a:schemeClr val="dk1"/>
                </a:solidFill>
                <a:effectLst/>
                <a:uFillTx/>
                <a:latin typeface="Inter Light"/>
                <a:ea typeface="Inter Light"/>
              </a:rPr>
              <a:t>A typical JSON document may include </a:t>
            </a:r>
            <a:r>
              <a:rPr lang="en-US" sz="1200" b="0" i="1" u="none" strike="noStrike">
                <a:solidFill>
                  <a:schemeClr val="dk1"/>
                </a:solidFill>
                <a:effectLst/>
                <a:uFillTx/>
                <a:latin typeface="Inter Light"/>
                <a:ea typeface="Inter Light"/>
              </a:rPr>
              <a:t>deviceId</a:t>
            </a:r>
            <a:r>
              <a:rPr lang="en-US" sz="1200" b="0" u="none" strike="noStrike">
                <a:solidFill>
                  <a:schemeClr val="dk1"/>
                </a:solidFill>
                <a:effectLst/>
                <a:uFillTx/>
                <a:latin typeface="Inter Light"/>
                <a:ea typeface="Inter Light"/>
              </a:rPr>
              <a:t>, </a:t>
            </a:r>
            <a:r>
              <a:rPr lang="en-US" sz="1200" b="0" i="1" u="none" strike="noStrike">
                <a:solidFill>
                  <a:schemeClr val="dk1"/>
                </a:solidFill>
                <a:effectLst/>
                <a:uFillTx/>
                <a:latin typeface="Inter Light"/>
                <a:ea typeface="Inter Light"/>
              </a:rPr>
              <a:t>locationId</a:t>
            </a:r>
            <a:r>
              <a:rPr lang="en-US" sz="1200" b="0" u="none" strike="noStrike">
                <a:solidFill>
                  <a:schemeClr val="dk1"/>
                </a:solidFill>
                <a:effectLst/>
                <a:uFillTx/>
                <a:latin typeface="Inter Light"/>
                <a:ea typeface="Inter Light"/>
              </a:rPr>
              <a:t>, </a:t>
            </a:r>
            <a:r>
              <a:rPr lang="en-US" sz="1200" b="0" i="1" u="none" strike="noStrike">
                <a:solidFill>
                  <a:schemeClr val="dk1"/>
                </a:solidFill>
                <a:effectLst/>
                <a:uFillTx/>
                <a:latin typeface="Inter Light"/>
                <a:ea typeface="Inter Light"/>
              </a:rPr>
              <a:t>timestamp</a:t>
            </a:r>
            <a:r>
              <a:rPr lang="en-US" sz="1200" b="0" u="none" strike="noStrike">
                <a:solidFill>
                  <a:schemeClr val="dk1"/>
                </a:solidFill>
                <a:effectLst/>
                <a:uFillTx/>
                <a:latin typeface="Inter Light"/>
                <a:ea typeface="Inter Light"/>
              </a:rPr>
              <a:t>, and sensor readings such as </a:t>
            </a:r>
            <a:r>
              <a:rPr lang="en-US" sz="1200" b="0" i="1" u="none" strike="noStrike">
                <a:solidFill>
                  <a:schemeClr val="dk1"/>
                </a:solidFill>
                <a:effectLst/>
                <a:uFillTx/>
                <a:latin typeface="Inter Light"/>
                <a:ea typeface="Inter Light"/>
              </a:rPr>
              <a:t>temperature</a:t>
            </a:r>
            <a:r>
              <a:rPr lang="en-US" sz="1200" b="0" u="none" strike="noStrike">
                <a:solidFill>
                  <a:schemeClr val="dk1"/>
                </a:solidFill>
                <a:effectLst/>
                <a:uFillTx/>
                <a:latin typeface="Inter Light"/>
                <a:ea typeface="Inter Light"/>
              </a:rPr>
              <a:t>. MongoDB’s flexible schema allows adding new fields without impacting existing ones, accommodating different device data structures seamlessly and supporting versatile query patterns across multiple parameters.</a:t>
            </a:r>
            <a:endParaRPr lang="en-US" sz="1200" b="0" u="none" strike="noStrike">
              <a:solidFill>
                <a:srgbClr val="FFFFFF"/>
              </a:solidFill>
              <a:effectLst/>
              <a:uFillTx/>
              <a:latin typeface="OpenSymbol"/>
            </a:endParaRPr>
          </a:p>
        </p:txBody>
      </p:sp>
      <p:pic>
        <p:nvPicPr>
          <p:cNvPr id="2" name="Picture 1">
            <a:extLst>
              <a:ext uri="{FF2B5EF4-FFF2-40B4-BE49-F238E27FC236}">
                <a16:creationId xmlns:a16="http://schemas.microsoft.com/office/drawing/2014/main" id="{F5D0175D-1323-6270-6918-119787A85E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874" y="0"/>
            <a:ext cx="3701336" cy="5143499"/>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237960" y="228600"/>
            <a:ext cx="3733560" cy="1828440"/>
          </a:xfrm>
          <a:prstGeom prst="rect">
            <a:avLst/>
          </a:prstGeom>
          <a:noFill/>
          <a:ln w="0">
            <a:noFill/>
          </a:ln>
        </p:spPr>
        <p:txBody>
          <a:bodyPr anchor="t" bIns="91440" lIns="91440" rIns="91440" tIns="91440">
            <a:normAutofit/>
          </a:bodyPr>
          <a:lstStyle/>
          <a:p>
            <a:pPr indent="0">
              <a:lnSpc>
                <a:spcPct val="100000"/>
              </a:lnSpc>
              <a:buNone/>
              <a:tabLst>
                <a:tab algn="l" pos="0"/>
              </a:tabLst>
            </a:pPr>
            <a:r>
              <a:rPr b="1" lang="en-US" strike="noStrike" sz="2600" u="none">
                <a:solidFill>
                  <a:schemeClr val="dk1"/>
                </a:solidFill>
                <a:effectLst/>
                <a:uFillTx/>
                <a:latin typeface="Syne"/>
                <a:ea typeface="Syne"/>
              </a:rPr>
              <a:t>Conclusions</a:t>
            </a:r>
            <a:endParaRPr b="0" lang="fr-FR" strike="noStrike" sz="2600" u="none">
              <a:solidFill>
                <a:schemeClr val="dk1"/>
              </a:solidFill>
              <a:effectLst/>
              <a:uFillTx/>
              <a:latin typeface="Arial"/>
            </a:endParaRPr>
          </a:p>
        </p:txBody>
      </p:sp>
      <p:sp>
        <p:nvSpPr>
          <p:cNvPr id="85" name="PlaceHolder 2"/>
          <p:cNvSpPr>
            <a:spLocks noGrp="1"/>
          </p:cNvSpPr>
          <p:nvPr>
            <p:ph type="subTitle"/>
          </p:nvPr>
        </p:nvSpPr>
        <p:spPr>
          <a:xfrm>
            <a:off x="228600" y="2371680"/>
            <a:ext cx="3733560" cy="2542680"/>
          </a:xfrm>
          <a:prstGeom prst="rect">
            <a:avLst/>
          </a:prstGeom>
          <a:noFill/>
          <a:ln w="0">
            <a:noFill/>
          </a:ln>
        </p:spPr>
        <p:txBody>
          <a:bodyPr anchor="b" bIns="91440" lIns="91440" rIns="91440" tIns="91440">
            <a:normAutofit/>
          </a:bodyPr>
          <a:lstStyle/>
          <a:p>
            <a:pPr indent="0">
              <a:lnSpc>
                <a:spcPct val="120000"/>
              </a:lnSpc>
              <a:buNone/>
              <a:tabLst>
                <a:tab algn="l" pos="0"/>
              </a:tabLst>
            </a:pPr>
            <a:r>
              <a:rPr b="0" lang="en-US" strike="noStrike" sz="1200" u="none">
                <a:solidFill>
                  <a:schemeClr val="dk1"/>
                </a:solidFill>
                <a:effectLst/>
                <a:uFillTx/>
                <a:latin typeface="Inter Light"/>
                <a:ea typeface="Inter Light"/>
              </a:rPr>
              <a:t>Efficient indexing and flexible data storage are critical for managing diverse IoT device data. MongoDB’s JSON-based document model provides the adaptability and performance needed for evolving IoT platforms. Proper indexing strategies ensure quick, reliable access to device and location data, enabling effective analysis and decision-making in complex IoT environments.</a:t>
            </a:r>
            <a:endParaRPr b="0" lang="en-US" strike="noStrike" sz="1200" u="none">
              <a:solidFill>
                <a:srgbClr val="FFFFFF"/>
              </a:solidFill>
              <a:effectLst/>
              <a:uFillTx/>
              <a:latin typeface="OpenSymbol"/>
            </a:endParaRPr>
          </a:p>
        </p:txBody>
      </p:sp>
      <p:pic>
        <p:nvPicPr>
          <p:cNvPr id="86" name="Google Shape;213;p31"/>
          <p:cNvPicPr/>
          <p:nvPr/>
        </p:nvPicPr>
        <p:blipFill>
          <a:blip r:embed="rId2"/>
          <a:srcRect l="25" r="34" t="93"/>
          <a:stretch/>
        </p:blipFill>
        <p:spPr>
          <a:xfrm>
            <a:off x="4384080" y="228240"/>
            <a:ext cx="4530960" cy="46861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536069" y="1309865"/>
            <a:ext cx="12053666" cy="1261884"/>
          </a:xfrm>
          <a:prstGeom prst="rect">
            <a:avLst/>
          </a:prstGeom>
          <a:noFill/>
          <a:ln w="0">
            <a:noFill/>
          </a:ln>
        </p:spPr>
        <p:txBody>
          <a:bodyPr wrap="square" lIns="91440" tIns="91440" rIns="91440" bIns="91440" anchor="b">
            <a:spAutoFit/>
          </a:bodyPr>
          <a:lstStyle/>
          <a:p>
            <a:pPr indent="0" algn="r">
              <a:lnSpc>
                <a:spcPct val="100000"/>
              </a:lnSpc>
              <a:buNone/>
              <a:tabLst>
                <a:tab pos="0" algn="l"/>
              </a:tabLst>
            </a:pPr>
            <a:r>
              <a:rPr lang="en" sz="7000" b="1" u="none" strike="noStrike">
                <a:solidFill>
                  <a:schemeClr val="dk1"/>
                </a:solidFill>
                <a:effectLst/>
                <a:uFillTx/>
                <a:latin typeface="Syne"/>
                <a:ea typeface="Syne"/>
              </a:rPr>
              <a:t>Thank you</a:t>
            </a:r>
            <a:endParaRPr lang="fr-FR" sz="7000" b="0" u="none" strike="noStrike">
              <a:solidFill>
                <a:schemeClr val="dk1"/>
              </a:solidFill>
              <a:effectLst/>
              <a:uFillTx/>
              <a:latin typeface="Arial"/>
            </a:endParaRPr>
          </a:p>
        </p:txBody>
      </p:sp>
      <p:sp>
        <p:nvSpPr>
          <p:cNvPr id="2" name="Rectangle 1">
            <a:extLst>
              <a:ext uri="{FF2B5EF4-FFF2-40B4-BE49-F238E27FC236}">
                <a16:creationId xmlns:a16="http://schemas.microsoft.com/office/drawing/2014/main" id="{2C66701D-FC09-DF19-649E-52C44201D625}"/>
              </a:ext>
            </a:extLst>
          </p:cNvPr>
          <p:cNvSpPr/>
          <p:nvPr/>
        </p:nvSpPr>
        <p:spPr>
          <a:xfrm>
            <a:off x="-131920" y="1"/>
            <a:ext cx="9393382" cy="5143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C734937-765E-8D5C-6E71-7A11BDC52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920" y="79061"/>
            <a:ext cx="9393381" cy="5143499"/>
          </a:xfrm>
          <a:prstGeom prst="rect">
            <a:avLst/>
          </a:prstGeom>
        </p:spPr>
      </p:pic>
    </p:spTree>
  </p:cSld>
  <p:clrMapOvr>
    <a:masterClrMapping/>
  </p:clrMapOvr>
</p:sld>
</file>

<file path=ppt/theme/theme1.xml><?xml version="1.0" encoding="utf-8"?>
<a:theme xmlns:a="http://schemas.openxmlformats.org/drawingml/2006/main" name="Group Project Strategies by Slidesgo">
  <a:themeElements>
    <a:clrScheme name="Simple Light">
      <a:dk1>
        <a:srgbClr val="FFFFFF"/>
      </a:dk1>
      <a:lt1>
        <a:srgbClr val="000015"/>
      </a:lt1>
      <a:dk2>
        <a:srgbClr val="FFFFFF"/>
      </a:dk2>
      <a:lt2>
        <a:srgbClr val="BB637E"/>
      </a:lt2>
      <a:accent1>
        <a:srgbClr val="32095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(16:9)</PresentationFormat>
  <Slides>12</Slides>
  <Notes>0</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Group Project Strategies by Slidesgo</vt:lpstr>
      <vt:lpstr>Slidesgo Final Pages</vt:lpstr>
      <vt:lpstr>IoT Indexing</vt:lpstr>
      <vt:lpstr>Introduction</vt:lpstr>
      <vt:lpstr>IoT Device Data Management</vt:lpstr>
      <vt:lpstr>Challenges in supporting diverse devices</vt:lpstr>
      <vt:lpstr>Importance of flexible data storage</vt:lpstr>
      <vt:lpstr>Role of indexing in efficient data retrieval</vt:lpstr>
      <vt:lpstr>JSON-Based Document Databases in IoT</vt:lpstr>
      <vt:lpstr>Advantages of MongoDB for IoT platforms</vt:lpstr>
      <vt:lpstr>Indexing strategies in MongoDB for devices and locations</vt:lpstr>
      <vt:lpstr>Sample JSON schema for multi-device data storage</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Indexing</dc:title>
  <cp:lastModifiedBy>Kesu Lokesh</cp:lastModifiedBy>
  <cp:revision>8</cp:revision>
  <dcterms:modified xsi:type="dcterms:W3CDTF">2025-10-30T13:01:29Z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2025-10-28T09:53:26Z</dcterms:created>
  <dc:creator>Unknown Creator</dc:creator>
  <dc:description/>
  <dc:language>en-US</dc:language>
  <cp:lastModifiedBy>Unknown Creator</cp:lastModifiedBy>
  <dcterms:modified xsi:type="dcterms:W3CDTF">2025-10-28T09:53:26Z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509534</vt:lpwstr>
  </property>
  <property fmtid="{D5CDD505-2E9C-101B-9397-08002B2CF9AE}" name="NXPowerLiteSettings" pid="3">
    <vt:lpwstr>F7000400038000</vt:lpwstr>
  </property>
  <property fmtid="{D5CDD505-2E9C-101B-9397-08002B2CF9AE}" name="NXPowerLiteVersion" pid="4">
    <vt:lpwstr>S10.9.4</vt:lpwstr>
  </property>
  <property fmtid="{D5CDD505-2E9C-101B-9397-08002B2CF9AE}" name="Slides" pid="5">
    <vt:r8>12</vt:r8>
  </property>
</Properties>
</file>